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91" r:id="rId3"/>
    <p:sldId id="313" r:id="rId4"/>
    <p:sldId id="312" r:id="rId5"/>
    <p:sldId id="292" r:id="rId6"/>
    <p:sldId id="280" r:id="rId7"/>
    <p:sldId id="284" r:id="rId8"/>
    <p:sldId id="274" r:id="rId9"/>
    <p:sldId id="267" r:id="rId10"/>
    <p:sldId id="268" r:id="rId11"/>
    <p:sldId id="286" r:id="rId12"/>
    <p:sldId id="293" r:id="rId13"/>
    <p:sldId id="294" r:id="rId14"/>
    <p:sldId id="295" r:id="rId15"/>
    <p:sldId id="296" r:id="rId16"/>
    <p:sldId id="289" r:id="rId17"/>
    <p:sldId id="308" r:id="rId18"/>
    <p:sldId id="297" r:id="rId19"/>
    <p:sldId id="298" r:id="rId20"/>
    <p:sldId id="314" r:id="rId21"/>
    <p:sldId id="315" r:id="rId22"/>
    <p:sldId id="316" r:id="rId23"/>
    <p:sldId id="317" r:id="rId24"/>
    <p:sldId id="309" r:id="rId25"/>
    <p:sldId id="310" r:id="rId26"/>
    <p:sldId id="311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117B5-3D4A-46A6-9D50-7D696FBF0BAB}" v="53" dt="2023-12-21T13:48:02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497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7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699689A8-1F05-4737-918B-E9A9B80604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B09A0AC9-F3C2-4E69-BB29-4D32BB3035E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6D239BC1-F324-40E7-8F2A-A916FB54CE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43380E94-9719-4EB8-9477-88C1BDDE6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699689A8-1F05-4737-918B-E9A9B80604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B09A0AC9-F3C2-4E69-BB29-4D32BB3035E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6D239BC1-F324-40E7-8F2A-A916FB54CE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43380E94-9719-4EB8-9477-88C1BDDE6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10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700B34B3-F11D-401F-AE5A-0CDCF245697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148635A5-0162-482E-B90D-94496DF27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4F9F38F-4E38-43CB-9112-F63FDBAC0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700B34B3-F11D-401F-AE5A-0CDCF245697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148635A5-0162-482E-B90D-94496DF27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4F9F38F-4E38-43CB-9112-F63FDBAC0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45AEA3D-3BE1-451D-B14B-B8CCCFC29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19D9B1A-EF0C-4B5C-B489-881B6CB8EDF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CA6B24FB-76FE-407D-B74E-486F49278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CDDC8D0-60C3-4930-96B4-3A50B39B4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89E-E277-AF8E-49F6-72A76B18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04B1-AE16-B6BA-1931-FC4853B2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05AC-2B29-B091-F2D7-ED96F7D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E658B-C860-4F15-9988-4E3FF9DFC14B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8F6-8FD4-DA77-E0AD-189CD89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3765-EFFD-C5B8-D943-5D93BC34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A9F8-12EB-EFF7-0744-D287E5B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AD1-300B-3C68-20B9-3914223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1028-1B69-451E-3144-37F520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9B726-18B2-4C0B-83ED-A5EF2C43EF15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0EE3D-4F86-87ED-8F44-BFF2F45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9467-4453-E14C-3ED2-5ABB2A4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D00F-E918-055A-4616-4EEA16A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D093-0330-DA39-1E58-89632D95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A767-90E2-6AF5-1864-93B40D28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D7F6-5852-42F1-B5D8-0CA154C96796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F8BF-63FA-5BB3-B9FA-3A06958E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1A44-8F8B-0587-D08F-B89AB981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D54B-F397-8955-3FEA-6C969D0D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2DC3-E323-16AC-8A29-88D1F9F7E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1C72-1CC5-2AD7-A8C3-55DC48CC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4270-71B6-D9F6-72B5-EAE1C8A5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4B4F-7EB0-4011-B045-6AE05CA5C48C}" type="datetime1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A33-F213-7A3A-DC63-730394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17D4-61FE-7C16-4C64-14CCBE5F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0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D53-581C-677C-682F-D41E4381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C7BF-EDDE-2A1B-4E62-ACB320B3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3186-9648-6B4F-9B18-5DC0C3C1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806C6-8ECC-170E-F981-6CD97F75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DA98D-030B-292A-C8A7-F4FEA51EB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B296-432F-F025-F850-EFEF2148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832F-0CF3-4468-9834-D6DAC3E41B17}" type="datetime1">
              <a:rPr lang="en-IN" smtClean="0"/>
              <a:t>28-04-2025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EC2FE-9C4F-9D39-DAD1-DCE0CBD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4145-3441-5834-D7AE-C0CC681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E4E3-7E7C-EEC8-5EB8-4AFA3E0A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6027-1488-8291-70CA-C24E0710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53CD-093B-4CDC-8552-3CDCAB1FC5FF}" type="datetime1">
              <a:rPr lang="en-IN" smtClean="0"/>
              <a:t>28-04-2025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0DF85-ECB1-F665-71C0-EFBE74E9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DDAFE-02EA-3655-A05E-1C31B4CD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35D-7C71-0752-B2BB-E5C4D0C3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5A115-3CF8-4F2D-8150-6E7F4B60A4AE}" type="datetime1">
              <a:rPr lang="en-IN" smtClean="0"/>
              <a:t>28-04-2025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18D7F-94A9-239C-B8D1-D408C64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175B-F480-AC31-B0CA-044FD4B4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F21-319B-0907-0D80-8DEDC07D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8AEC-2C9D-6214-0052-EF4733C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E77F-9176-76EE-76B3-19240F1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5E2C-07E5-B688-BF50-D327E30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28C7-1E5F-4506-9C35-63AFFC0200A9}" type="datetime1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B84F-0FD7-F6CB-50DA-AAB1A73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F7CBB-C41F-989F-08C2-E4442E3F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8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345-EA37-8C6A-C178-39B3296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51E9-0BAA-127A-E65B-5AC7D45C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B98CF-DF76-141B-762A-A65D3563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CD96-760E-5300-1C4F-003F42C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3413-51D1-4E4E-A003-5BF3A5EFF9B8}" type="datetime1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FD3F-AD02-03B3-84FE-20F9F631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0320-2A44-851A-082D-5B40482B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84B-B8F1-675F-654B-8770D0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45BE-EC73-9A7B-A9A6-E1A3E0B9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643E-EE56-B785-F106-2C0ED6B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0AE2-F94A-4477-B42F-76543216D2B2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CC-DF2E-AE86-92BD-24625557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BA80-780F-AB29-8AAC-62F8CD3B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9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B0D7E-C14F-5DFE-B774-40F41313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BB635-47B1-BE7A-42AF-7099B604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DCA-F058-FD44-4D76-01BE21ED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8F68-C371-465D-845F-F8DA7E29CF27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5EAC-EB78-95CB-CAE8-110216F3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0C4-F616-EE28-479C-3DA4F91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3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4F0AD-A9F4-4906-AE8C-A224E396B199}" type="datetime1">
              <a:rPr lang="en-IN" smtClean="0"/>
              <a:t>28-04-2025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2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755F3-BEF6-DEF9-4CB1-1B5D2AA3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2260-9AEE-0F6C-393D-081813D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6917-09DF-778A-8957-A72F2F6F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3E8B1-18E0-4A19-B334-3028687E0B39}" type="datetime1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656D-2DBA-CEE6-4E60-9E615014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E9C8-F63C-F72D-C515-B8CD271F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5957" y="1596824"/>
            <a:ext cx="9610479" cy="820556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AND SMART MEDICAL DATA EXCHANGE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E6C64-EEEF-3F0D-3BFD-BAF65D5F3755}"/>
              </a:ext>
            </a:extLst>
          </p:cNvPr>
          <p:cNvSpPr txBox="1"/>
          <p:nvPr/>
        </p:nvSpPr>
        <p:spPr>
          <a:xfrm>
            <a:off x="6096000" y="2643381"/>
            <a:ext cx="5486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Purusoth K R (813821104074)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Riyaz Khan K I (813821104079)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Sivakarthikeyan D (813821104096)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Surya Prakash G (813821104107)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Roshini, M.TECH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CF3DA-98B6-AB33-36F1-FDC05FA2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30874A-38CA-5FE6-4DA2-B35437C49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077" y="373626"/>
            <a:ext cx="10564710" cy="176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16">
            <a:extLst>
              <a:ext uri="{FF2B5EF4-FFF2-40B4-BE49-F238E27FC236}">
                <a16:creationId xmlns:a16="http://schemas.microsoft.com/office/drawing/2014/main" id="{7DA50452-FD06-5CAD-81AB-C18B084B9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660450"/>
            <a:ext cx="968432" cy="96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F04A24B-929C-BD1D-7B93-031C4F192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098" y="506678"/>
            <a:ext cx="105647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SARANATHAN COLLEGE OF ENGINEERING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Venkateswara Nagar,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Panjappur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Tiruchirappalli - 620 012, Tamil Nadu.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 Computer Science and Engineering CS3811 – Project Work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1145-70DC-2244-6F78-FCD38239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              ABSTRACT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EF5C6-84A0-BF05-89F6-8C13FB942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3"/>
            <a:ext cx="10515600" cy="527992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object detection task in the medical field is challenging in terms of classification and regression. 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Due to its crucial applications, an increasing number of researchers are transferring the object detection techniques to the medical field. 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 existing approaches, do not consider the low resolution of medical images, the high amount of noise, and the small size of the objects to be detected. 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Here proposes algorithm named as Sequential CNN , where a self-supervised learning approach is used to perform features extraction and disease classification.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classified disease data hide in medical image using LSB coding.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Finally implement fragmentation and cryptography techniques using ECC algorithm to secure the medical images.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435C4-9CF9-D4D7-4604-485D66EB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111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1">
            <a:extLst>
              <a:ext uri="{FF2B5EF4-FFF2-40B4-BE49-F238E27FC236}">
                <a16:creationId xmlns:a16="http://schemas.microsoft.com/office/drawing/2014/main" id="{931FEBE6-48D1-4DB3-B3A4-DF08C44F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945" y="1700213"/>
            <a:ext cx="10230256" cy="438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-6350">
              <a:lnSpc>
                <a:spcPct val="107000"/>
              </a:lnSpc>
              <a:spcBef>
                <a:spcPts val="1280"/>
              </a:spcBef>
              <a:spcAft>
                <a:spcPts val="15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 Secure Medical Data Sharing Framework for Fighting Pandemics Like COVID-19 Using Public Blockchain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SEVAL CAPRAZ</a:t>
            </a:r>
            <a:r>
              <a:rPr 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(Member, IEEE), AND ADNAN OZSOY</a:t>
            </a:r>
            <a:endParaRPr lang="en-US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July 2024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sharing COVID-19 medical data safely and quickly.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public blockchain called Ethereum and a storage system called IPFS.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are used to give or remove access without needing doctors’ private keys.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make data sharing fast, safe, scalable, and private during pandemics.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 https://doi.org/10.1109/ACCESS.2024.3423714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2" name="Rectangle 1">
            <a:extLst>
              <a:ext uri="{FF2B5EF4-FFF2-40B4-BE49-F238E27FC236}">
                <a16:creationId xmlns:a16="http://schemas.microsoft.com/office/drawing/2014/main" id="{A04FFD90-2A18-421E-801B-355C264A6D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C5B53E-9E51-7F7C-9FEF-107FE4A9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933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1">
            <a:extLst>
              <a:ext uri="{FF2B5EF4-FFF2-40B4-BE49-F238E27FC236}">
                <a16:creationId xmlns:a16="http://schemas.microsoft.com/office/drawing/2014/main" id="{931FEBE6-48D1-4DB3-B3A4-DF08C44F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945" y="1237075"/>
            <a:ext cx="10230256" cy="465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primary goal of this system is to ensure secure and efficient transmission of medical images while maintaining data integrity and confidentiality. Key objectives include: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Accurate Disease Classification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Utilizing Sequential CNN for feature extraction and medical image analysis.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Security &amp; Privacy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Embedding classified disease information using LSB-based steganography and encrypting data via ECC encryption.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Reliable Medical Data Access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Implementing multi-secret sharing to ensure controlled retrieval by authorized healthcare providers.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Scalability &amp; Integration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Designing the system to function within cloud-based healthcare frameworks, enabling secure remote diagnosis and data exchange.</a:t>
            </a:r>
          </a:p>
        </p:txBody>
      </p:sp>
      <p:sp>
        <p:nvSpPr>
          <p:cNvPr id="9222" name="Rectangle 1">
            <a:extLst>
              <a:ext uri="{FF2B5EF4-FFF2-40B4-BE49-F238E27FC236}">
                <a16:creationId xmlns:a16="http://schemas.microsoft.com/office/drawing/2014/main" id="{A04FFD90-2A18-421E-801B-355C264A6D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96243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0CEE6-863A-1E21-7266-9DC8618A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017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4692-0376-5297-D1B9-6BFAFE46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4" y="-206477"/>
            <a:ext cx="10114935" cy="158299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      INTRODUCTION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887F2-EB9F-0467-F898-73DF60A4D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394"/>
            <a:ext cx="10515600" cy="542740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Medical imaging like Magnetic Resonance Imaging (MRI), Computed Tomography (CT), X-rays, and ultrasound has essential role in diagnosing a wide range of diseases.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Rapid improvements have been made on the internet for sharing and transferring massive amounts of information.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medical data should be transmitted in a secure communication medium to protect patients’ sensitive information.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Confidentiality and integrity became a significant challenge in medical image transmission. So, more attention is needed to secure the medical images transferred over a public network.</a:t>
            </a:r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7D3D4-C9C3-ACB6-7926-A20F48B7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211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D366DC9E-2A7E-4B82-A73B-6E6D13C57D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20907E0E-6D85-41DC-BE71-D9CC1F318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643064"/>
            <a:ext cx="714375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3D3592B-1CCB-7984-34B4-51C799F11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918349"/>
              </p:ext>
            </p:extLst>
          </p:nvPr>
        </p:nvGraphicFramePr>
        <p:xfrm>
          <a:off x="694661" y="1315295"/>
          <a:ext cx="10802677" cy="5006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165">
                  <a:extLst>
                    <a:ext uri="{9D8B030D-6E8A-4147-A177-3AD203B41FA5}">
                      <a16:colId xmlns:a16="http://schemas.microsoft.com/office/drawing/2014/main" val="1696788018"/>
                    </a:ext>
                  </a:extLst>
                </a:gridCol>
                <a:gridCol w="1330022">
                  <a:extLst>
                    <a:ext uri="{9D8B030D-6E8A-4147-A177-3AD203B41FA5}">
                      <a16:colId xmlns:a16="http://schemas.microsoft.com/office/drawing/2014/main" val="491367482"/>
                    </a:ext>
                  </a:extLst>
                </a:gridCol>
                <a:gridCol w="2524991">
                  <a:extLst>
                    <a:ext uri="{9D8B030D-6E8A-4147-A177-3AD203B41FA5}">
                      <a16:colId xmlns:a16="http://schemas.microsoft.com/office/drawing/2014/main" val="3984734785"/>
                    </a:ext>
                  </a:extLst>
                </a:gridCol>
                <a:gridCol w="1808027">
                  <a:extLst>
                    <a:ext uri="{9D8B030D-6E8A-4147-A177-3AD203B41FA5}">
                      <a16:colId xmlns:a16="http://schemas.microsoft.com/office/drawing/2014/main" val="3060227600"/>
                    </a:ext>
                  </a:extLst>
                </a:gridCol>
                <a:gridCol w="2035452">
                  <a:extLst>
                    <a:ext uri="{9D8B030D-6E8A-4147-A177-3AD203B41FA5}">
                      <a16:colId xmlns:a16="http://schemas.microsoft.com/office/drawing/2014/main" val="2852876685"/>
                    </a:ext>
                  </a:extLst>
                </a:gridCol>
                <a:gridCol w="2206020">
                  <a:extLst>
                    <a:ext uri="{9D8B030D-6E8A-4147-A177-3AD203B41FA5}">
                      <a16:colId xmlns:a16="http://schemas.microsoft.com/office/drawing/2014/main" val="520737097"/>
                    </a:ext>
                  </a:extLst>
                </a:gridCol>
              </a:tblGrid>
              <a:tr h="597134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TECHNIQUES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4722875"/>
                  </a:ext>
                </a:extLst>
              </a:tr>
              <a:tr h="1070402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Adnan Qayyum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Secure and Robust Machine Learning for Healthcare: A Survey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Long Short</a:t>
                      </a: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Term Memory (</a:t>
                      </a:r>
                      <a:r>
                        <a:rPr kumimoji="0" lang="en-IN" sz="1800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LSTM</a:t>
                      </a:r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itchFamily="34" charset="0"/>
                        <a:buNone/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Easily</a:t>
                      </a:r>
                      <a:r>
                        <a:rPr lang="en-US" sz="18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detects the objects </a:t>
                      </a:r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Drop - outs algorithm to mitigate this problem is difficult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53365"/>
                  </a:ext>
                </a:extLst>
              </a:tr>
              <a:tr h="1791401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Fawad Masood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 Lightweight Chaos</a:t>
                      </a:r>
                      <a:r>
                        <a:rPr lang="en-US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‑</a:t>
                      </a: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Based Medical Image Encryption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Scheme Using Random Shuffling and </a:t>
                      </a:r>
                      <a:r>
                        <a:rPr lang="en-IN" sz="1800" dirty="0" err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XOR</a:t>
                      </a: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Operations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Cryptography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itchFamily="34" charset="0"/>
                        <a:buNone/>
                      </a:pPr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It can protect data and communication from unauthorised disclosure and access.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Hig</a:t>
                      </a:r>
                      <a:r>
                        <a:rPr lang="en-US" sz="1800" b="0" baseline="0" dirty="0">
                          <a:latin typeface="Times New Roman" pitchFamily="18" charset="0"/>
                          <a:cs typeface="Times New Roman" pitchFamily="18" charset="0"/>
                        </a:rPr>
                        <a:t>h Cost Implementation 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2318157"/>
                  </a:ext>
                </a:extLst>
              </a:tr>
              <a:tr h="138465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Mohammad Kamrul Hasan.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Lightweight Encryption Technique to Enhance</a:t>
                      </a: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Medical Image Security on Internet of Medical</a:t>
                      </a: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Things Applications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Image Encryption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255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Relatively Quick </a:t>
                      </a:r>
                      <a:endParaRPr lang="en-IN" sz="18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Increased Damage if Compromised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763012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F4D31-990F-3770-1FCA-65CB8061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17183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D366DC9E-2A7E-4B82-A73B-6E6D13C57D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20907E0E-6D85-41DC-BE71-D9CC1F318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643064"/>
            <a:ext cx="714375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3D3592B-1CCB-7984-34B4-51C799F11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80288"/>
              </p:ext>
            </p:extLst>
          </p:nvPr>
        </p:nvGraphicFramePr>
        <p:xfrm>
          <a:off x="864117" y="1397793"/>
          <a:ext cx="10749516" cy="3087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162">
                  <a:extLst>
                    <a:ext uri="{9D8B030D-6E8A-4147-A177-3AD203B41FA5}">
                      <a16:colId xmlns:a16="http://schemas.microsoft.com/office/drawing/2014/main" val="1696788018"/>
                    </a:ext>
                  </a:extLst>
                </a:gridCol>
                <a:gridCol w="1280361">
                  <a:extLst>
                    <a:ext uri="{9D8B030D-6E8A-4147-A177-3AD203B41FA5}">
                      <a16:colId xmlns:a16="http://schemas.microsoft.com/office/drawing/2014/main" val="491367482"/>
                    </a:ext>
                  </a:extLst>
                </a:gridCol>
                <a:gridCol w="2463230">
                  <a:extLst>
                    <a:ext uri="{9D8B030D-6E8A-4147-A177-3AD203B41FA5}">
                      <a16:colId xmlns:a16="http://schemas.microsoft.com/office/drawing/2014/main" val="3984734785"/>
                    </a:ext>
                  </a:extLst>
                </a:gridCol>
                <a:gridCol w="2024116">
                  <a:extLst>
                    <a:ext uri="{9D8B030D-6E8A-4147-A177-3AD203B41FA5}">
                      <a16:colId xmlns:a16="http://schemas.microsoft.com/office/drawing/2014/main" val="3060227600"/>
                    </a:ext>
                  </a:extLst>
                </a:gridCol>
                <a:gridCol w="2021376">
                  <a:extLst>
                    <a:ext uri="{9D8B030D-6E8A-4147-A177-3AD203B41FA5}">
                      <a16:colId xmlns:a16="http://schemas.microsoft.com/office/drawing/2014/main" val="2852876685"/>
                    </a:ext>
                  </a:extLst>
                </a:gridCol>
                <a:gridCol w="1951271">
                  <a:extLst>
                    <a:ext uri="{9D8B030D-6E8A-4147-A177-3AD203B41FA5}">
                      <a16:colId xmlns:a16="http://schemas.microsoft.com/office/drawing/2014/main" val="520737097"/>
                    </a:ext>
                  </a:extLst>
                </a:gridCol>
              </a:tblGrid>
              <a:tr h="6141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TECHNIQUES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4722875"/>
                  </a:ext>
                </a:extLst>
              </a:tr>
              <a:tr h="122829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2019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Puvvadi</a:t>
                      </a: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Aparna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Biometric-based efficient medical image watermarking in E-healthcare application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Elliptical curve cryptography (ECC)-based encryption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It requires less computational power </a:t>
                      </a:r>
                      <a:endParaRPr lang="en-IN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More complicated and difficult to apply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53365"/>
                  </a:ext>
                </a:extLst>
              </a:tr>
              <a:tr h="122829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Sara T. </a:t>
                      </a:r>
                      <a:r>
                        <a:rPr kumimoji="0" lang="en-IN" sz="1800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Kamal</a:t>
                      </a:r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 New Image Encryption Algorithm for Grey and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Color Medical Images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Image Encryption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It</a:t>
                      </a:r>
                      <a:r>
                        <a:rPr lang="en-US" sz="1800" baseline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provides more secure and confidentiality.</a:t>
                      </a:r>
                    </a:p>
                    <a:p>
                      <a:pPr marL="0" indent="1778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endParaRPr lang="en-US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Lost the</a:t>
                      </a:r>
                      <a:r>
                        <a:rPr lang="en-US" sz="1800" baseline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password unable to decrypt the data</a:t>
                      </a:r>
                      <a:endParaRPr lang="en-IN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231815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372CD-C60D-B60C-5932-B7BEDD8A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85644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1">
            <a:extLst>
              <a:ext uri="{FF2B5EF4-FFF2-40B4-BE49-F238E27FC236}">
                <a16:creationId xmlns:a16="http://schemas.microsoft.com/office/drawing/2014/main" id="{931FEBE6-48D1-4DB3-B3A4-DF08C44F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945" y="1700213"/>
            <a:ext cx="10230256" cy="465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like Magnetic Resonance Imaging (MRI), Computed Tomography (CT), X-rays, and ultrasound has essential role in diagnosing a wide range of diseases.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improvements have been made on the internet for sharing and transferring massive amounts of information.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medical data should be transmitted in a secure communication medium to protect patients’ sensitive information.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transmission of medical images, the image is captured and tampered by the attacker will lead to a false diagnosis issue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and integrity became a significant challenge in medical image transmission. So, more attention is needed to secure the medical images transferred over a public network.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2" name="Rectangle 1">
            <a:extLst>
              <a:ext uri="{FF2B5EF4-FFF2-40B4-BE49-F238E27FC236}">
                <a16:creationId xmlns:a16="http://schemas.microsoft.com/office/drawing/2014/main" id="{A04FFD90-2A18-421E-801B-355C264A6D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504141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289E7-A184-A89F-19E6-D5E55524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557" y="150053"/>
            <a:ext cx="7401910" cy="1568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4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sp>
        <p:nvSpPr>
          <p:cNvPr id="18437" name="Rectangle 6">
            <a:extLst>
              <a:ext uri="{FF2B5EF4-FFF2-40B4-BE49-F238E27FC236}">
                <a16:creationId xmlns:a16="http://schemas.microsoft.com/office/drawing/2014/main" id="{048ADDFF-FB5F-40A2-8BF6-162FFFB8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1AC609-87EA-F8D9-3717-458824E0267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0557" y="1485936"/>
            <a:ext cx="10547911" cy="50725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B31CB-7BBC-DCAC-037B-A83FFB2E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9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6074EF04-2DF4-436A-8AF9-45418D4C2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PROPOSED WORK  </a:t>
            </a:r>
          </a:p>
        </p:txBody>
      </p:sp>
      <p:sp>
        <p:nvSpPr>
          <p:cNvPr id="20485" name="Rectangle 1">
            <a:extLst>
              <a:ext uri="{FF2B5EF4-FFF2-40B4-BE49-F238E27FC236}">
                <a16:creationId xmlns:a16="http://schemas.microsoft.com/office/drawing/2014/main" id="{D480A21E-9DCB-4127-8D85-97D1D569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9508DB-F07D-4515-90EA-E6A4A64CCA18}"/>
              </a:ext>
            </a:extLst>
          </p:cNvPr>
          <p:cNvSpPr txBox="1"/>
          <p:nvPr/>
        </p:nvSpPr>
        <p:spPr>
          <a:xfrm>
            <a:off x="865762" y="1551057"/>
            <a:ext cx="10447507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Privacy, integrity, and robustness for the extracted information are important security issues because deep learning enables object detection in images.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techniques in the medical field have been widely used in many practical medical diagnostic applications.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Medical image disease classification using convolutional neural networks (CNN) is a rapidly growing field of research that aims to develop accurate and efficient systems for automated disease diagnosis and treatment.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CNNs are deep learning models that have been shown to achieve state-of-the-art results in various computer vision tasks, including medical image analysis.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BF995B-5805-8187-AADA-2B437E14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6074EF04-2DF4-436A-8AF9-45418D4C2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44178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PROPOSED WORK  </a:t>
            </a:r>
          </a:p>
        </p:txBody>
      </p:sp>
      <p:sp>
        <p:nvSpPr>
          <p:cNvPr id="20485" name="Rectangle 1">
            <a:extLst>
              <a:ext uri="{FF2B5EF4-FFF2-40B4-BE49-F238E27FC236}">
                <a16:creationId xmlns:a16="http://schemas.microsoft.com/office/drawing/2014/main" id="{D480A21E-9DCB-4127-8D85-97D1D569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9508DB-F07D-4515-90EA-E6A4A64CCA18}"/>
              </a:ext>
            </a:extLst>
          </p:cNvPr>
          <p:cNvSpPr txBox="1"/>
          <p:nvPr/>
        </p:nvSpPr>
        <p:spPr>
          <a:xfrm>
            <a:off x="875489" y="1773239"/>
            <a:ext cx="10447507" cy="451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extracted medical information is hiding within medical image using LSB algorithm.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Then the stegno image was applied for multi secret sharing approach.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Image sharing with medical data hiding using multi-secret sharing and encryption is a technique used to securely transmit and store medical images by splitting the image into multiple shares, each encrypted with a ECC based different secret key.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This technique not only enhances the security and privacy of medical images, but also allows for efficient and reliable sharing of medical data between healthcare professionals.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825614-D548-9F2A-EEA1-FCF56910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329222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EAB8-0328-26DB-4AF4-A79B8709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MODULE LIST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07A5-4D9F-248B-AC76-6BFAD32A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FRAMEWORK CONSTRUCTION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FEATURES EXTRACTION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DISEASE PREDICTION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HIDING WITH FRAGEMENATION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ENCRYPTION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ACCESS THE MEDICAL IMAGE DATA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21982-3ED7-C0DC-579B-6A3340F6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23568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823C-5049-ED51-05C8-D7EC0FBD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054"/>
            <a:ext cx="10515600" cy="5707421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Construction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cloud framework is developed to create a structured and reliable environment. It includes: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Care Centers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Upload patient data.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Server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and stores all patient details.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Third Party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Approves the operations of health care centers and edge servers.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Extraction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extracting critical information like color, shape, and texture from lung images. This step ensures that the high-dimensional image data is reduced while retaining meaningful details to differentiate between different medical conditions.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D0ECA-4EBE-B274-663C-69337A8B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0570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5B23-AA2B-308B-678A-023C109D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5910"/>
            <a:ext cx="10515600" cy="535105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lung images. The CNN learns patterns indicative of specific lung diseases using a large labeled dataset, enabling it to predict diseases with high accuracy for new and unseen medical images.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Hiding with Fragmentation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disease details are embedded into medical scan images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Significant Bit (LSB)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hiding. This technique ensures the changes are imperceptible to the human eye. The modified images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images) are then split into multiple parts for enhanced security.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B8062B-96BE-D08A-FE4F-E040F604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6055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F8B2-71BB-B43A-9E4C-F7770DDB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714"/>
            <a:ext cx="10515600" cy="4948801"/>
          </a:xfrm>
        </p:spPr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split image fragments are encrypted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</a:t>
            </a:r>
          </a:p>
          <a:p>
            <a:pPr marL="13716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Cryptography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ensures the medical image data remains secure during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or storage. Only the private key associated with the public key used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encryption can decrypt these fragments.</a:t>
            </a:r>
          </a:p>
          <a:p>
            <a:pPr marL="13716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health care centers request the medical data stored on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servers, the encrypted fragments are sent to the respective center.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their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 private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3716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can: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 the fragments.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them back into the complete image.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hidden disease information.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749618-CADD-D565-EB09-067C6BE8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2000" b="1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41313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8436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9" y="1594560"/>
            <a:ext cx="10428051" cy="2795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		: Windows OS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			: Python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				: </a:t>
            </a:r>
            <a:r>
              <a:rPr lang="en-US" sz="24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en-US" sz="240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End			: MySQL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			: Web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D5E0E-24E8-BC46-F0A9-71F284FF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705352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8436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199" y="1181605"/>
            <a:ext cx="10428051" cy="465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Sequential CNN for Disease Detection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Uses deep learning for precise classification of medical conditions.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LSB-based Steganography for Data Hiding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Conceals disease-related data within medical images for added security.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Elliptic Curve Cryptography (ECC) for Encryption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Ensures secure transmission by fragmenting and encrypting image data.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Multi-Secret Sharing for Secure Access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Divides encrypted medical images into multiple shares, allowing authorized retrieval only.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Cloud-Based Healthcare Framework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Provides structured data storage and management via edge servers and trusted third parties.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B28-7183-4379-6293-B65425E5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169641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8570-F288-259A-7661-8DA07E57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-1166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EXCEPTED OUTCOMES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6492A-A5EA-484C-8028-D2645FA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18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3D84163-EA89-C18A-2C2A-053EB4871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45" y="1172267"/>
            <a:ext cx="10780606" cy="4513466"/>
          </a:xfrm>
        </p:spPr>
      </p:pic>
    </p:spTree>
    <p:extLst>
      <p:ext uri="{BB962C8B-B14F-4D97-AF65-F5344CB8AC3E}">
        <p14:creationId xmlns:p14="http://schemas.microsoft.com/office/powerpoint/2010/main" val="4210975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99C424-9E8F-AB0B-8B28-F897D78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/>
              <a:t>19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72FFEF1-3387-898A-2A7B-57846CBFF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0" y="495108"/>
            <a:ext cx="5512571" cy="522460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897065-9825-4DC5-6B50-6E3335766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21" y="220705"/>
            <a:ext cx="5806170" cy="29454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1799DD-E913-7CE6-B15D-FFD268A57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21" y="3645105"/>
            <a:ext cx="6154996" cy="266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59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BEFE03-AF7A-596C-1C8F-C7A5EB787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4" y="283339"/>
            <a:ext cx="10515600" cy="187356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4FF15-35E9-0981-749F-9EE6A29A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solidFill>
                  <a:schemeClr val="tx1"/>
                </a:solidFill>
              </a:rPr>
              <a:t>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05BD7B-D251-312A-C5B0-E908EA03A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6" y="2379611"/>
            <a:ext cx="11749548" cy="1529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20A2F4-0F70-6A79-D93E-861E0D21E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31" y="4193653"/>
            <a:ext cx="9640645" cy="187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23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BDD807-C961-A51F-BEF2-5F28F23EC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10" y="393289"/>
            <a:ext cx="5548542" cy="54689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B5393-7779-0248-52C9-A03DDB85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21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81B954-56C4-04EE-82B3-4FC471B94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289"/>
            <a:ext cx="5358581" cy="516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62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FA475-2191-FD73-79EE-369D3490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solidFill>
                  <a:schemeClr val="tx1"/>
                </a:solidFill>
              </a:rPr>
              <a:t>22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49BF06A-B2BA-7184-D0D4-D00FBE454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97"/>
            <a:ext cx="10515600" cy="5220929"/>
          </a:xfrm>
        </p:spPr>
      </p:pic>
    </p:spTree>
    <p:extLst>
      <p:ext uri="{BB962C8B-B14F-4D97-AF65-F5344CB8AC3E}">
        <p14:creationId xmlns:p14="http://schemas.microsoft.com/office/powerpoint/2010/main" val="545379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0D72CE-54BC-F3C4-AA80-078054435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" y="547431"/>
            <a:ext cx="10637893" cy="534209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C37D9-5069-F698-C0B9-50BED84E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55553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8436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9" y="1427367"/>
            <a:ext cx="10428051" cy="501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Enhanced Security &amp; Privacy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Secure transmission ensures protection against tampering and unauthorized access.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Accurate Disease Detection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CNN-based classification improves diagnostic reliability for medical imaging.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Efficient Data Retrieval &amp; Access Control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Authorized healthcare providers can securely retrieve encrypted data.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Scalable System Integration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Designed for cloud environments, enabling expansion across multiple medical institutions.</a:t>
            </a:r>
          </a:p>
          <a:p>
            <a:pPr marL="0" indent="0" algn="just">
              <a:lnSpc>
                <a:spcPct val="15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24</a:t>
            </a:r>
          </a:p>
        </p:txBody>
      </p:sp>
    </p:spTree>
    <p:extLst>
      <p:ext uri="{BB962C8B-B14F-4D97-AF65-F5344CB8AC3E}">
        <p14:creationId xmlns:p14="http://schemas.microsoft.com/office/powerpoint/2010/main" val="4956207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7449" y="110440"/>
            <a:ext cx="8229600" cy="8989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8" y="1107671"/>
            <a:ext cx="11018473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demonstrates effective classification of diseases in medical images and secure transmission through ECC-based encryption and multi-secret sharing. Preliminary evaluations suggest high accuracy in disease detection and robust security measures preventing unauthorized tampering.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Disease Classification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Sequential CNN achieves high-precision diagnosis with optimized feature extraction and robust performance metrics.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Hiding &amp; Security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Medical information is embedded via LSB encoding and encrypted using ECC-256, ensuring confidentiality.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Multi-Secret Sharing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Image fragments are distributed securely, requiring a threshold for authorized reconstruction.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Performance Validation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System demonstrates low latency, minimal storage overhead, and resilience against cryptographic attacks.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D4568-4018-A1CF-E7EB-11C1954F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C0AC3-80F1-8E42-B2A4-7860C025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3029688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8436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9" y="1594560"/>
            <a:ext cx="10428051" cy="2795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Safe and Smart Medical Data Exchange system presents a scalable and secure approach to handling medical images, integrating AI-driven diagnostics with encryption techniques. 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ensures privacy, integrity, and accessibility, making it a promising solution for modern healthcare environments.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D4568-4018-A1CF-E7EB-11C1954F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BA060-43E4-EBD0-D763-7DFE31D6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800" b="1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629827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F8FE137-C585-4285-B9A5-B1A07F68FE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84367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3557" name="TextBox 1">
            <a:extLst>
              <a:ext uri="{FF2B5EF4-FFF2-40B4-BE49-F238E27FC236}">
                <a16:creationId xmlns:a16="http://schemas.microsoft.com/office/drawing/2014/main" id="{9323D384-2332-4872-8037-052BC81A5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9" y="1270095"/>
            <a:ext cx="10428051" cy="47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Qayyum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Adnan,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Junaid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Qadir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Muhammad Bilal, and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Al-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Fuqaha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"Secure and robust machine learning for healthcare: A survey." IEEE Reviews in Biomedical Engineering 14 (2020): 156-180.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Masood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Fawad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Driss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Wadii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Boulila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Jawad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Ahmad,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Sadaqat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Rehman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Sana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Jan, Abdullah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Qayyum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William J. Buchanan. "A lightweight chaos-based medical image encryption scheme using random shuffling and XOR operations." Wireless Personal Communications (2021): 1-28.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Mohammad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Kamrul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Shayla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Islam,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Rossilawati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Sulaiman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Sheroz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Khan, Aisha-Hassan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Abdalla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Hashim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Shabana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Habib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Mohammad Islam et al. "Lightweight encryption technique to enhance medical image security on internet of medical things applications." IEEE Access 9 (2021): 47731-47742.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Aparna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Puvvadi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Polurie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Vijay Kishore. "Biometric‐based efficient medical image watermarking in E‐healthcare application." IET Image Processing 13, no. 3 (2019): 421-428.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Kamal, Sara T., Khalid M.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Hosny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Elgindy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Mohamed M.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Darwish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Mostafa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US" sz="17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Fouda</a:t>
            </a:r>
            <a:r>
              <a:rPr lang="en-US" sz="17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"A new image encryption algorithm for grey and color medical images." IEEE Access 9 (2021): 37855-37865.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28420-89AB-EF34-8452-52E9DB91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27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38324-E34D-1564-6864-B6B6907C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b="1" dirty="0">
                <a:latin typeface="Arial Black" panose="020B0A04020102020204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8213827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1946</Words>
  <Application>Microsoft Office PowerPoint</Application>
  <PresentationFormat>Widescreen</PresentationFormat>
  <Paragraphs>209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Times New Roman</vt:lpstr>
      <vt:lpstr>Office Theme</vt:lpstr>
      <vt:lpstr> SAFE AND SMART MEDICAL DATA EXCHANGE</vt:lpstr>
      <vt:lpstr>                                    ABSTRACT</vt:lpstr>
      <vt:lpstr>BASE PAPER</vt:lpstr>
      <vt:lpstr>OBJECTIVE</vt:lpstr>
      <vt:lpstr>                            INTRODUCTION</vt:lpstr>
      <vt:lpstr>LITERATURE SURVEY</vt:lpstr>
      <vt:lpstr>LITERATURE SURVEY</vt:lpstr>
      <vt:lpstr>PROBLEM DEFINITION</vt:lpstr>
      <vt:lpstr>PowerPoint Presentation</vt:lpstr>
      <vt:lpstr>EXPLANATION OF PROPOSED WORK  </vt:lpstr>
      <vt:lpstr>EXPLANATION OF PROPOSED WORK  </vt:lpstr>
      <vt:lpstr>                        MODULE LIST</vt:lpstr>
      <vt:lpstr>PowerPoint Presentation</vt:lpstr>
      <vt:lpstr>PowerPoint Presentation</vt:lpstr>
      <vt:lpstr>PowerPoint Presentation</vt:lpstr>
      <vt:lpstr>SOFTWARE REQUIREMENTS</vt:lpstr>
      <vt:lpstr>FEATURES</vt:lpstr>
      <vt:lpstr>                        EXCEPTED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OUTCOMES</vt:lpstr>
      <vt:lpstr>RESULT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Sivakarthikeyan D</cp:lastModifiedBy>
  <cp:revision>42</cp:revision>
  <dcterms:created xsi:type="dcterms:W3CDTF">2023-12-21T13:31:05Z</dcterms:created>
  <dcterms:modified xsi:type="dcterms:W3CDTF">2025-04-28T12:35:33Z</dcterms:modified>
</cp:coreProperties>
</file>